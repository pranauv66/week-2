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13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uv raaj" userId="952a4fe9a18468af" providerId="LiveId" clId="{E7C55C0C-AF9A-4982-B214-0410AB172229}"/>
    <pc:docChg chg="custSel modSld">
      <pc:chgData name="pranauv raaj" userId="952a4fe9a18468af" providerId="LiveId" clId="{E7C55C0C-AF9A-4982-B214-0410AB172229}" dt="2026-09-09T06:31:22.854" v="14" actId="1035"/>
      <pc:docMkLst>
        <pc:docMk/>
      </pc:docMkLst>
      <pc:sldChg chg="delSp modSp mod">
        <pc:chgData name="pranauv raaj" userId="952a4fe9a18468af" providerId="LiveId" clId="{E7C55C0C-AF9A-4982-B214-0410AB172229}" dt="2026-09-09T06:09:20.987" v="2" actId="478"/>
        <pc:sldMkLst>
          <pc:docMk/>
          <pc:sldMk cId="0" sldId="256"/>
        </pc:sldMkLst>
        <pc:spChg chg="mod">
          <ac:chgData name="pranauv raaj" userId="952a4fe9a18468af" providerId="LiveId" clId="{E7C55C0C-AF9A-4982-B214-0410AB172229}" dt="2026-09-09T06:09:09.403" v="0" actId="6549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pranauv raaj" userId="952a4fe9a18468af" providerId="LiveId" clId="{E7C55C0C-AF9A-4982-B214-0410AB172229}" dt="2026-09-09T06:09:20.987" v="2" actId="478"/>
          <ac:spMkLst>
            <pc:docMk/>
            <pc:sldMk cId="0" sldId="256"/>
            <ac:spMk id="9" creationId="{00000000-0000-0000-0000-000000000000}"/>
          </ac:spMkLst>
        </pc:spChg>
      </pc:sldChg>
      <pc:sldChg chg="delSp modSp mod">
        <pc:chgData name="pranauv raaj" userId="952a4fe9a18468af" providerId="LiveId" clId="{E7C55C0C-AF9A-4982-B214-0410AB172229}" dt="2026-09-09T06:31:22.854" v="14" actId="1035"/>
        <pc:sldMkLst>
          <pc:docMk/>
          <pc:sldMk cId="0" sldId="257"/>
        </pc:sldMkLst>
        <pc:spChg chg="mod">
          <ac:chgData name="pranauv raaj" userId="952a4fe9a18468af" providerId="LiveId" clId="{E7C55C0C-AF9A-4982-B214-0410AB172229}" dt="2026-09-09T06:31:22.854" v="14" actId="1035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pranauv raaj" userId="952a4fe9a18468af" providerId="LiveId" clId="{E7C55C0C-AF9A-4982-B214-0410AB172229}" dt="2026-09-09T06:09:42.125" v="8" actId="478"/>
          <ac:spMkLst>
            <pc:docMk/>
            <pc:sldMk cId="0" sldId="257"/>
            <ac:spMk id="28" creationId="{00000000-0000-0000-0000-000000000000}"/>
          </ac:spMkLst>
        </pc:spChg>
      </pc:sldChg>
      <pc:sldChg chg="delSp mod">
        <pc:chgData name="pranauv raaj" userId="952a4fe9a18468af" providerId="LiveId" clId="{E7C55C0C-AF9A-4982-B214-0410AB172229}" dt="2026-09-09T06:09:50.501" v="9" actId="478"/>
        <pc:sldMkLst>
          <pc:docMk/>
          <pc:sldMk cId="0" sldId="258"/>
        </pc:sldMkLst>
        <pc:spChg chg="del">
          <ac:chgData name="pranauv raaj" userId="952a4fe9a18468af" providerId="LiveId" clId="{E7C55C0C-AF9A-4982-B214-0410AB172229}" dt="2026-09-09T06:09:50.501" v="9" actId="478"/>
          <ac:spMkLst>
            <pc:docMk/>
            <pc:sldMk cId="0" sldId="258"/>
            <ac:spMk id="34" creationId="{00000000-0000-0000-0000-000000000000}"/>
          </ac:spMkLst>
        </pc:spChg>
      </pc:sldChg>
      <pc:sldChg chg="delSp mod">
        <pc:chgData name="pranauv raaj" userId="952a4fe9a18468af" providerId="LiveId" clId="{E7C55C0C-AF9A-4982-B214-0410AB172229}" dt="2026-09-09T06:09:56.726" v="10" actId="478"/>
        <pc:sldMkLst>
          <pc:docMk/>
          <pc:sldMk cId="0" sldId="259"/>
        </pc:sldMkLst>
        <pc:spChg chg="del">
          <ac:chgData name="pranauv raaj" userId="952a4fe9a18468af" providerId="LiveId" clId="{E7C55C0C-AF9A-4982-B214-0410AB172229}" dt="2026-09-09T06:09:56.726" v="10" actId="478"/>
          <ac:spMkLst>
            <pc:docMk/>
            <pc:sldMk cId="0" sldId="259"/>
            <ac:spMk id="16" creationId="{00000000-0000-0000-0000-000000000000}"/>
          </ac:spMkLst>
        </pc:spChg>
      </pc:sldChg>
      <pc:sldChg chg="delSp mod">
        <pc:chgData name="pranauv raaj" userId="952a4fe9a18468af" providerId="LiveId" clId="{E7C55C0C-AF9A-4982-B214-0410AB172229}" dt="2026-09-09T06:10:02.231" v="11" actId="478"/>
        <pc:sldMkLst>
          <pc:docMk/>
          <pc:sldMk cId="0" sldId="260"/>
        </pc:sldMkLst>
        <pc:spChg chg="del">
          <ac:chgData name="pranauv raaj" userId="952a4fe9a18468af" providerId="LiveId" clId="{E7C55C0C-AF9A-4982-B214-0410AB172229}" dt="2026-09-09T06:10:02.231" v="11" actId="478"/>
          <ac:spMkLst>
            <pc:docMk/>
            <pc:sldMk cId="0" sldId="260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070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2926080"/>
            <a:ext cx="4754880" cy="4754880"/>
          </a:xfrm>
          <a:prstGeom prst="ellipse">
            <a:avLst/>
          </a:prstGeom>
          <a:ln w="254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749040"/>
            <a:ext cx="3108960" cy="3108960"/>
          </a:xfrm>
          <a:prstGeom prst="ellipse">
            <a:avLst/>
          </a:prstGeom>
          <a:ln w="254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3977640"/>
            <a:ext cx="2651760" cy="2651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s/brain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0" y="4640580"/>
            <a:ext cx="1325880" cy="1325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ARC-AGI-3 EVALUATION OVERVIEW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GPT-6 Astra </a:t>
            </a:r>
            <a:r>
              <a:rPr lang="en-US" sz="44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AGI Benchmark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2113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GPT-6 Astra need an AGI benchmark test?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4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ARC-AGI-3</a:t>
            </a:r>
            <a:r>
              <a:rPr lang="en-US" sz="14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benchmark measures whether an AI can handle new, unfamiliar problems rather than simply recalling information from its training. It tests whether Astra can: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621792" cy="621792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5" name="Image 0" descr="icons/compass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10" y="2298070"/>
            <a:ext cx="323332" cy="3233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2130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44144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an unfamiliar environment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862072"/>
            <a:ext cx="10881360" cy="0"/>
          </a:xfrm>
          <a:prstGeom prst="line">
            <a:avLst/>
          </a:prstGeom>
          <a:noFill/>
          <a:ln w="12700">
            <a:solidFill>
              <a:srgbClr val="E2E6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990088"/>
            <a:ext cx="621792" cy="621792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10" name="Image 1" descr="icons/puzzle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10" y="3139318"/>
            <a:ext cx="323332" cy="3233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508760" y="328269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model the rules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10881360" cy="0"/>
          </a:xfrm>
          <a:prstGeom prst="line">
            <a:avLst/>
          </a:prstGeom>
          <a:noFill/>
          <a:ln w="12700">
            <a:solidFill>
              <a:srgbClr val="E2E6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831336"/>
            <a:ext cx="621792" cy="621792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15" name="Image 2" descr="icons/bullsey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310" y="3980566"/>
            <a:ext cx="323332" cy="3233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813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Goals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412394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goals from limited information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4544568"/>
            <a:ext cx="10881360" cy="0"/>
          </a:xfrm>
          <a:prstGeom prst="line">
            <a:avLst/>
          </a:prstGeom>
          <a:noFill/>
          <a:ln w="12700">
            <a:solidFill>
              <a:srgbClr val="E2E6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4672584"/>
            <a:ext cx="621792" cy="621792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20" name="Image 3" descr="icons/rout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310" y="4821814"/>
            <a:ext cx="323332" cy="3233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08760" y="46542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508760" y="496519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execute actions to achieve those goals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40080" y="5385816"/>
            <a:ext cx="10881360" cy="0"/>
          </a:xfrm>
          <a:prstGeom prst="line">
            <a:avLst/>
          </a:prstGeom>
          <a:noFill/>
          <a:ln w="12700">
            <a:solidFill>
              <a:srgbClr val="E2E6F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0080" y="5513832"/>
            <a:ext cx="621792" cy="621792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25" name="Image 4" descr="icons/sync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310" y="5663062"/>
            <a:ext cx="323332" cy="3233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54955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1508760" y="580644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when its initial approach doesn't work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the AGI benchmark test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0306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94B8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86384" y="1609344"/>
            <a:ext cx="512064" cy="512064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5" name="Image 0" descr="icons/chartlin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98" y="1724558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86384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general intelligence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6384" y="2670048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flexible problem-solving instead of knowledge recall.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4314" y="1371600"/>
            <a:ext cx="350306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94B8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82058" y="1609344"/>
            <a:ext cx="512064" cy="512064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10" name="Image 1" descr="icons/lightbulb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273" y="1724558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2058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adaptability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582058" y="2670048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 has to learn rules it hasn't been explicitly told.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9989" y="1371600"/>
            <a:ext cx="350306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94B8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77733" y="1609344"/>
            <a:ext cx="512064" cy="512064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15" name="Image 2" descr="icons/mapsigns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947" y="1724558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77733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planning ability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8377733" y="2670048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decide what actions to take and correct mistakes.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630168"/>
            <a:ext cx="350306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94B8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86384" y="3867912"/>
            <a:ext cx="512064" cy="512064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20" name="Image 3" descr="icons/users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98" y="3983126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86384" y="4498848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AI with humans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86384" y="4928616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ARC-AGI-3 uses human performance as a reference.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44314" y="3630168"/>
            <a:ext cx="3503066" cy="1965960"/>
          </a:xfrm>
          <a:prstGeom prst="roundRect">
            <a:avLst>
              <a:gd name="adj" fmla="val 3721"/>
            </a:avLst>
          </a:prstGeom>
          <a:solidFill>
            <a:srgbClr val="141B41"/>
          </a:solidFill>
          <a:ln/>
        </p:spPr>
      </p:sp>
      <p:sp>
        <p:nvSpPr>
          <p:cNvPr id="24" name="Shape 18"/>
          <p:cNvSpPr/>
          <p:nvPr/>
        </p:nvSpPr>
        <p:spPr>
          <a:xfrm>
            <a:off x="4582058" y="3867912"/>
            <a:ext cx="512064" cy="512064"/>
          </a:xfrm>
          <a:prstGeom prst="ellipse">
            <a:avLst/>
          </a:prstGeom>
          <a:solidFill>
            <a:srgbClr val="00D9FF"/>
          </a:solidFill>
          <a:ln/>
        </p:spPr>
      </p:sp>
      <p:pic>
        <p:nvPicPr>
          <p:cNvPr id="25" name="Image 4" descr="icons/bol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7273" y="3983126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82058" y="4498848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efficiency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4582058" y="4928616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not only on solving a problem, but how many actions it needs.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6612941" y="383133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2600" dirty="0"/>
          </a:p>
        </p:txBody>
      </p:sp>
      <p:sp>
        <p:nvSpPr>
          <p:cNvPr id="29" name="Shape 22"/>
          <p:cNvSpPr/>
          <p:nvPr/>
        </p:nvSpPr>
        <p:spPr>
          <a:xfrm>
            <a:off x="8139989" y="3630168"/>
            <a:ext cx="350306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A94B8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77733" y="3867912"/>
            <a:ext cx="512064" cy="512064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31" name="Image 5" descr="icons/chartbar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2947" y="3983126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77733" y="4498848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progress toward AGI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77733" y="4928616"/>
            <a:ext cx="30275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which capabilities AI has achieved and which remain difficult.</a:t>
            </a:r>
            <a:endParaRPr lang="en-US" sz="1150" dirty="0"/>
          </a:p>
        </p:txBody>
      </p:sp>
      <p:sp>
        <p:nvSpPr>
          <p:cNvPr id="35" name="Text 27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Astra's result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observed score on ARC-AGI-3, by evaluation harness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2331720"/>
          </a:xfrm>
          <a:prstGeom prst="roundRect">
            <a:avLst>
              <a:gd name="adj" fmla="val 3137"/>
            </a:avLst>
          </a:prstGeom>
          <a:solidFill>
            <a:srgbClr val="141B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56232"/>
            <a:ext cx="5364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Provider Adapter harness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Provider-specific test setup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blurRad="76200" dist="25400" dir="5400000" algn="bl" rotWithShape="0">
              <a:srgbClr val="8A94B8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278728" y="1856232"/>
            <a:ext cx="5364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62.7%</a:t>
            </a:r>
            <a:endParaRPr lang="en-US" sz="6400" dirty="0"/>
          </a:p>
        </p:txBody>
      </p:sp>
      <p:sp>
        <p:nvSpPr>
          <p:cNvPr id="10" name="Text 8"/>
          <p:cNvSpPr txBox="1"/>
          <p:nvPr/>
        </p:nvSpPr>
        <p:spPr>
          <a:xfrm>
            <a:off x="6644488" y="30175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provider-neutral harness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44488" y="338328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test setup across providers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EA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599432"/>
            <a:ext cx="731520" cy="731520"/>
          </a:xfrm>
          <a:prstGeom prst="ellipse">
            <a:avLst/>
          </a:prstGeom>
          <a:solidFill>
            <a:srgbClr val="141B41"/>
          </a:solidFill>
          <a:ln/>
        </p:spPr>
      </p:sp>
      <p:pic>
        <p:nvPicPr>
          <p:cNvPr id="14" name="Image 0" descr="icons/infocircl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4764024"/>
            <a:ext cx="402336" cy="40233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828800" y="4434840"/>
            <a:ext cx="96313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r>
              <a:rPr lang="en-US" sz="13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99.9% benchmark score does not mean Astra is 99.9% AGI. ARC Prize explicitly states that saturating ARC-AGI-3 is not proof of achieving AGI, because the benchmark has a limited, closed-ended scope.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ln w="254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92928" y="68580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icons/checkcircl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242" y="912114"/>
            <a:ext cx="553212" cy="5532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87452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2514600"/>
            <a:ext cx="963137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AGI benchmark matters because it checks whether GPT-6 Astra can </a:t>
            </a:r>
            <a:r>
              <a:rPr lang="en-US" sz="2400" b="1" dirty="0">
                <a:solidFill>
                  <a:srgbClr val="00D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learn, reason, plan, and adapt</a:t>
            </a: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completely new problems — capabilities that sit much closer to general intelligence than ordinary question-answering.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289</Words>
  <Application>Microsoft Office PowerPoint</Application>
  <PresentationFormat>Widescreen</PresentationFormat>
  <Paragraphs>47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pranauv raaj</cp:lastModifiedBy>
  <cp:revision>1</cp:revision>
  <dcterms:created xsi:type="dcterms:W3CDTF">2026-09-08T14:15:45Z</dcterms:created>
  <dcterms:modified xsi:type="dcterms:W3CDTF">2026-09-09T06:31:32Z</dcterms:modified>
</cp:coreProperties>
</file>